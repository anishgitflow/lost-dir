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9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-278" y="-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67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157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705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307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6541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701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6600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276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5779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332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635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95802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85973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82099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6957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82988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3543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09564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062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8421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7249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26354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23516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1222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35052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14673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9637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86420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127935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16164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0356327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940251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94864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051455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22503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63519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02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2570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084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1118" y="1455420"/>
            <a:ext cx="72816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Edge-Aware Audio Classification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39760" y="2156460"/>
            <a:ext cx="40644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INT8-Quantized PIPMN Model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052771" y="2804160"/>
            <a:ext cx="503845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Sound Recognition on Resource-Constrained Devices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461065" y="3501390"/>
            <a:ext cx="4221871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UrbanSound8K | Environmental Sound Recognition | Edge Computing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0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Motivation: The Edge Challenge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83055"/>
            <a:ext cx="7620000" cy="227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classification on microcontrollers and IoT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Footprint: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size measured in kilobytes to megabytes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Efficiency: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Minimize energy consumption for battery-powered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UrbanSound8K: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8,732 urban sound clips across 10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classes:</a:t>
            </a:r>
          </a:p>
          <a:p>
            <a:pPr lvl="3"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35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air_conditioner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35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engine_idling</a:t>
            </a:r>
            <a:endParaRPr lang="en-US" sz="1350" dirty="0" smtClean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3"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35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car_horn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7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gun_shot</a:t>
            </a:r>
            <a:endParaRPr lang="en-US" sz="1350" dirty="0" smtClean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3"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35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children_playing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jackhammer</a:t>
            </a:r>
          </a:p>
          <a:p>
            <a:pPr lvl="3"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35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dog_bark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</a:t>
            </a:r>
          </a:p>
          <a:p>
            <a:pPr lvl="3">
              <a:buSzPct val="100000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drilling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</a:t>
            </a:r>
            <a:r>
              <a:rPr lang="en-US" sz="135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street_music</a:t>
            </a:r>
            <a:endParaRPr lang="en-US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1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83056"/>
            <a:ext cx="7620000" cy="277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Accuracy-Efficiency Tradeoff: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 smtClean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Maximize 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while minimizing size and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</a:p>
          <a:p>
            <a:pPr>
              <a:lnSpc>
                <a:spcPts val="2430"/>
              </a:lnSpc>
              <a:buSzPct val="100000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Quantization: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 smtClean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Apply 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post-training quantization for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</a:t>
            </a:r>
          </a:p>
          <a:p>
            <a:pPr>
              <a:lnSpc>
                <a:spcPts val="2430"/>
              </a:lnSpc>
              <a:buSzPct val="100000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Benchmarking: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 smtClean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Compare 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vs INT8 and prior state-of-the-art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PIPMN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506856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CNN with depthwise-separable convolutions and custom temporal-dense MLP blocks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899285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PIPMN Blocks: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Parallel Input Parallel Model Network layers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Conv Layers: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32 → 64 → 128 channels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~1.07M (efficient for edge deployment)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3-channel spectrograms (Mel, log-Mel, PCEN)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&amp; Augmentation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506855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3-Channel Spectrogram Input: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Mel spectrogram, log-Mel, PCEN (Per-Channel Energy Normalization)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845945"/>
            <a:ext cx="3886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Waveform Augmentation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59305"/>
            <a:ext cx="35052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Noise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Stretch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Shift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1845945"/>
            <a:ext cx="3886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Spectrogram Augmentation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2059305"/>
            <a:ext cx="350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Masking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Masking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75486"/>
            <a:ext cx="7924800" cy="16535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INT8 Quantization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506855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 Quantization: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Apply after FP32 training without retraining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1060" y="2204086"/>
            <a:ext cx="75936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1060" y="2531745"/>
            <a:ext cx="75936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Linear layer weights cast to 8-bit integers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1060" y="2859405"/>
            <a:ext cx="75936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Activations computed in INT8 on-the-fly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1060" y="3187066"/>
            <a:ext cx="75936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Dramatic size reduction with minimal accuracy loss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0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83055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Dataset: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UrbanSound8K fold 10 (10 classes)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size on disk (MB)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CPU inference time (ms/sample)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Peak RAM usage during inference (MB)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Classification accuracy and per-class performance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0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83055"/>
            <a:ext cx="3848100" cy="13349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1583055"/>
            <a:ext cx="3848100" cy="13349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146585"/>
            <a:ext cx="3848100" cy="13349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6300" y="3146585"/>
            <a:ext cx="3848100" cy="13349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Comparison: FP32 vs INT8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61060" y="1811657"/>
            <a:ext cx="34354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1060" y="2139316"/>
            <a:ext cx="34354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INT8: </a:t>
            </a:r>
            <a:r>
              <a:rPr lang="en-US" sz="1800" b="1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</a:t>
            </a: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1060" y="2497457"/>
            <a:ext cx="343540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FP32: 4.1 MB (3.7× smaller)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937760" y="1811657"/>
            <a:ext cx="34354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</a:t>
            </a:r>
            <a:r>
              <a:rPr lang="en-US" sz="1200" b="1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</a:t>
            </a:r>
            <a:r>
              <a:rPr lang="en-US" sz="12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per sample 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139316"/>
            <a:ext cx="34354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INT8: </a:t>
            </a: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8.03 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497457"/>
            <a:ext cx="343540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FP32: 9.20 ms (1.15× faster)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61060" y="3375185"/>
            <a:ext cx="34354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1060" y="3702844"/>
            <a:ext cx="34354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INT8: </a:t>
            </a:r>
            <a:r>
              <a:rPr lang="en-US" sz="1800" b="1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84.62%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1060" y="4060985"/>
            <a:ext cx="343540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FP32: 84.01% (+0.6% improvement)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937760" y="3375185"/>
            <a:ext cx="34354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702844"/>
            <a:ext cx="34354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~902 MB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4060985"/>
            <a:ext cx="343540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equivalent</a:t>
            </a:r>
            <a:endParaRPr lang="en-US" sz="10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Model: Detailed Accuracy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506857"/>
            <a:ext cx="392506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Top Performers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1785700"/>
            <a:ext cx="392506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96"/>
              </a:lnSpc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Jackhammer: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 = </a:t>
            </a:r>
            <a:r>
              <a:rPr lang="en-US" sz="114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0.949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09600" y="2026444"/>
            <a:ext cx="392506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96"/>
              </a:lnSpc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Horn: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 = </a:t>
            </a:r>
            <a:r>
              <a:rPr lang="en-US" sz="114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0.885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4686300" y="1506857"/>
            <a:ext cx="392506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Challenging Classes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686300" y="1785700"/>
            <a:ext cx="392506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 = 0.707 (low recall)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686300" y="2026444"/>
            <a:ext cx="392506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Playing: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 = </a:t>
            </a:r>
            <a:r>
              <a:rPr lang="en-US" sz="114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0.754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09600" y="2381487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accuracy = </a:t>
            </a:r>
            <a:r>
              <a:rPr lang="en-US" sz="1050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84.62%, 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≈ 0.840. Most classes F1 ≥ 0.80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45948"/>
            <a:ext cx="3848100" cy="14630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1845948"/>
            <a:ext cx="3848100" cy="14630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Prior Work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506857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DenseNet-121 Ensemble (Palanisamy et al.):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87.42% accuracy | Hundreds of MB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1060" y="2074548"/>
            <a:ext cx="34354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PIPMN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1060" y="2364107"/>
            <a:ext cx="34354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r>
              <a:rPr lang="en-US" sz="1200" b="1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84.62%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1060" y="2615566"/>
            <a:ext cx="34354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</a:t>
            </a: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MB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1060" y="2867025"/>
            <a:ext cx="34354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 </a:t>
            </a: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8.03 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50562" y="2224683"/>
            <a:ext cx="134231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~2.8% accuracy gap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863948" y="2503526"/>
            <a:ext cx="151566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Orders-of-magnitude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reduction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0479" y="1317547"/>
            <a:ext cx="5283041" cy="6918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30479" y="2161817"/>
            <a:ext cx="5283041" cy="6918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30479" y="3006091"/>
            <a:ext cx="5283041" cy="6918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30479" y="3850365"/>
            <a:ext cx="5283041" cy="6918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23228" y="601266"/>
            <a:ext cx="3097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910" y="1546147"/>
            <a:ext cx="4899041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20" b="1" dirty="0" smtClean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84.62% </a:t>
            </a:r>
            <a:r>
              <a:rPr lang="en-US" sz="132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INT8 quantization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2133910" y="2390417"/>
            <a:ext cx="4899041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2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MB Model Size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(3.7× compression)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2133910" y="3234691"/>
            <a:ext cx="4899041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2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8.03 ms Inference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sample on CPU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133910" y="4078965"/>
            <a:ext cx="4899041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2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Edge-Ready: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Feasible real-time on-device audio classification</a:t>
            </a:r>
            <a:endParaRPr lang="en-US" sz="13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2"/>
            <a:ext cx="79248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Directions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83057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Energy-Aware Optimization: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Hardware-specific tuning and quantization-aware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Validation: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on ESC-50 and larger urban sound corpora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Hardware Deployment: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 on actual microcontrollers and mobile CPUs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663066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23" y="2516507"/>
            <a:ext cx="205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87332" y="3240407"/>
            <a:ext cx="476921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Edge-Aware Audio Classification with INT8-Quantized PIPMN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3.xml><?xml version="1.0" encoding="utf-8"?>
<a:theme xmlns:a="http://schemas.openxmlformats.org/drawingml/2006/main" name="1_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60</TotalTime>
  <Words>492</Words>
  <Application>Microsoft Office PowerPoint</Application>
  <PresentationFormat>On-screen Show (16:9)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Trebuchet MS</vt:lpstr>
      <vt:lpstr>Tw Cen MT</vt:lpstr>
      <vt:lpstr>Office Theme</vt:lpstr>
      <vt:lpstr>Circuit</vt:lpstr>
      <vt:lpstr>1_Circuit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Bhusan</cp:lastModifiedBy>
  <cp:revision>7</cp:revision>
  <dcterms:created xsi:type="dcterms:W3CDTF">2025-12-17T07:53:15Z</dcterms:created>
  <dcterms:modified xsi:type="dcterms:W3CDTF">2025-12-17T08:53:51Z</dcterms:modified>
</cp:coreProperties>
</file>